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Roboto Condensed" panose="02000000000000000000" pitchFamily="2" charset="0"/>
      <p:regular r:id="rId12"/>
    </p:embeddedFont>
    <p:embeddedFont>
      <p:font typeface="Roboto Condensed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499343"/>
            <a:ext cx="6967378" cy="2787657"/>
          </a:xfrm>
          <a:custGeom>
            <a:avLst/>
            <a:gdLst/>
            <a:ahLst/>
            <a:cxnLst/>
            <a:rect l="l" t="t" r="r" b="b"/>
            <a:pathLst>
              <a:path w="6967378" h="2787657">
                <a:moveTo>
                  <a:pt x="0" y="0"/>
                </a:moveTo>
                <a:lnTo>
                  <a:pt x="6967378" y="0"/>
                </a:lnTo>
                <a:lnTo>
                  <a:pt x="6967378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48622" y="0"/>
            <a:ext cx="6759560" cy="9652945"/>
          </a:xfrm>
          <a:custGeom>
            <a:avLst/>
            <a:gdLst/>
            <a:ahLst/>
            <a:cxnLst/>
            <a:rect l="l" t="t" r="r" b="b"/>
            <a:pathLst>
              <a:path w="6759560" h="9652945">
                <a:moveTo>
                  <a:pt x="0" y="0"/>
                </a:moveTo>
                <a:lnTo>
                  <a:pt x="6759560" y="0"/>
                </a:lnTo>
                <a:lnTo>
                  <a:pt x="675956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78488" y="0"/>
            <a:ext cx="5009512" cy="9652945"/>
          </a:xfrm>
          <a:custGeom>
            <a:avLst/>
            <a:gdLst/>
            <a:ahLst/>
            <a:cxnLst/>
            <a:rect l="l" t="t" r="r" b="b"/>
            <a:pathLst>
              <a:path w="5009512" h="9652945">
                <a:moveTo>
                  <a:pt x="0" y="0"/>
                </a:moveTo>
                <a:lnTo>
                  <a:pt x="5009512" y="0"/>
                </a:lnTo>
                <a:lnTo>
                  <a:pt x="500951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278488" y="9423373"/>
            <a:ext cx="5009512" cy="863627"/>
          </a:xfrm>
          <a:custGeom>
            <a:avLst/>
            <a:gdLst/>
            <a:ahLst/>
            <a:cxnLst/>
            <a:rect l="l" t="t" r="r" b="b"/>
            <a:pathLst>
              <a:path w="5009512" h="863627">
                <a:moveTo>
                  <a:pt x="0" y="0"/>
                </a:moveTo>
                <a:lnTo>
                  <a:pt x="5009512" y="0"/>
                </a:lnTo>
                <a:lnTo>
                  <a:pt x="5009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78488" y="0"/>
            <a:ext cx="229694" cy="10287000"/>
          </a:xfrm>
          <a:custGeom>
            <a:avLst/>
            <a:gdLst/>
            <a:ahLst/>
            <a:cxnLst/>
            <a:rect l="l" t="t" r="r" b="b"/>
            <a:pathLst>
              <a:path w="229694" h="10287000">
                <a:moveTo>
                  <a:pt x="0" y="0"/>
                </a:moveTo>
                <a:lnTo>
                  <a:pt x="229694" y="0"/>
                </a:lnTo>
                <a:lnTo>
                  <a:pt x="229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3827" y="878763"/>
            <a:ext cx="7158740" cy="3162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-164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STRUCTURAL DAMAGE IMAGE CLASSIFICATION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4066699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5064" y="4637482"/>
            <a:ext cx="7713891" cy="141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62" dirty="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Reproducing Machine Learning and Deep Learning Approaches with an Additional ResNet50 Experiment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4162" y="6409126"/>
            <a:ext cx="5804088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b="1" spc="-46">
                <a:solidFill>
                  <a:srgbClr val="1F8D8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Domain: </a:t>
            </a: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Computer Vision and Image Classification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1858" y="6891073"/>
            <a:ext cx="6034463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b="1" spc="-46">
                <a:solidFill>
                  <a:srgbClr val="1F8D8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Task: </a:t>
            </a: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Binary classification — Damaged / Undamaged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5064" y="8062367"/>
            <a:ext cx="5356642" cy="34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dirty="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Presented by: Shivakumara </a:t>
            </a:r>
            <a:r>
              <a:rPr lang="en-US" sz="2311" spc="-46" dirty="0" err="1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gp</a:t>
            </a:r>
            <a:r>
              <a:rPr lang="en-US" sz="2311" spc="-46" dirty="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,</a:t>
            </a:r>
            <a:r>
              <a:rPr lang="en-US" sz="2311" spc="-46" dirty="0" err="1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shyam</a:t>
            </a:r>
            <a:r>
              <a:rPr lang="en-US" sz="2311" spc="-46" dirty="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311" spc="-46" dirty="0" err="1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santhosh</a:t>
            </a:r>
            <a:r>
              <a:rPr lang="en-US" sz="2311" spc="-46" dirty="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7262" y="9391172"/>
            <a:ext cx="3494136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Academic project presentation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0939" y="9720199"/>
            <a:ext cx="1610184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3032" b="1" spc="-60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DAMAGED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99987" y="9720199"/>
            <a:ext cx="2068448" cy="40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3032" b="1" spc="-60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UNDAMAGED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7773" y="8472461"/>
            <a:ext cx="5442966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Department: Computer Science and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0403" y="8909225"/>
            <a:ext cx="4180061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Institution: PES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31464" y="0"/>
            <a:ext cx="10456536" cy="5575313"/>
          </a:xfrm>
          <a:custGeom>
            <a:avLst/>
            <a:gdLst/>
            <a:ahLst/>
            <a:cxnLst/>
            <a:rect l="l" t="t" r="r" b="b"/>
            <a:pathLst>
              <a:path w="10456536" h="5575313">
                <a:moveTo>
                  <a:pt x="0" y="0"/>
                </a:moveTo>
                <a:lnTo>
                  <a:pt x="10456536" y="0"/>
                </a:lnTo>
                <a:lnTo>
                  <a:pt x="10456536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7995" y="575685"/>
            <a:ext cx="7741857" cy="176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8"/>
              </a:lnSpc>
            </a:pPr>
            <a:r>
              <a:rPr lang="en-US" sz="6523" b="1" spc="-63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 AND OBJECTIVES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350377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8701" y="2901338"/>
            <a:ext cx="5671345" cy="92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Manual structural damage assessment is </a:t>
            </a:r>
            <a:r>
              <a:rPr lang="en-US" sz="2896" spc="-28">
                <a:solidFill>
                  <a:srgbClr val="38A6A6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time-consuming</a:t>
            </a:r>
            <a:r>
              <a:rPr lang="en-US" sz="2896" spc="-28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2896" spc="-28">
                <a:solidFill>
                  <a:srgbClr val="38A6A6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subjective</a:t>
            </a:r>
            <a:r>
              <a:rPr lang="en-US" sz="2896" spc="-28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3500" y="4030901"/>
            <a:ext cx="6191422" cy="139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 classification models can automate distinguishing damaged vs. undamaged structures.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1298" y="5777958"/>
            <a:ext cx="3411567" cy="46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1" spc="-28">
                <a:solidFill>
                  <a:srgbClr val="38A6A6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5822" y="6404792"/>
            <a:ext cx="5959227" cy="34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Study an existing structural damage recognition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519" y="6916861"/>
            <a:ext cx="4689485" cy="34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 six reference approaches locally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032" y="7398808"/>
            <a:ext cx="6338181" cy="34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Evaluate classical ML and pretrained deep-learning models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8071" y="7886586"/>
            <a:ext cx="5734322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Compare reference and local results, noting dataset and protocol caveats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538" y="8754284"/>
            <a:ext cx="5487625" cy="34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 ResNet50 experiment for additional 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8466" y="9236246"/>
            <a:ext cx="6694835" cy="34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Analyze strengths, weaknesses, and limitations of approaches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31464" y="5356674"/>
            <a:ext cx="5457962" cy="863627"/>
          </a:xfrm>
          <a:custGeom>
            <a:avLst/>
            <a:gdLst/>
            <a:ahLst/>
            <a:cxnLst/>
            <a:rect l="l" t="t" r="r" b="b"/>
            <a:pathLst>
              <a:path w="5457962" h="863627">
                <a:moveTo>
                  <a:pt x="0" y="0"/>
                </a:moveTo>
                <a:lnTo>
                  <a:pt x="5457962" y="0"/>
                </a:lnTo>
                <a:lnTo>
                  <a:pt x="5457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56509" y="5552070"/>
            <a:ext cx="1375868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75" b="1" spc="-25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DAMAGED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278488" y="5356674"/>
            <a:ext cx="5009512" cy="863627"/>
          </a:xfrm>
          <a:custGeom>
            <a:avLst/>
            <a:gdLst/>
            <a:ahLst/>
            <a:cxnLst/>
            <a:rect l="l" t="t" r="r" b="b"/>
            <a:pathLst>
              <a:path w="5009512" h="863627">
                <a:moveTo>
                  <a:pt x="0" y="0"/>
                </a:moveTo>
                <a:lnTo>
                  <a:pt x="5009512" y="0"/>
                </a:lnTo>
                <a:lnTo>
                  <a:pt x="5009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896093" y="5552070"/>
            <a:ext cx="1767472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75" b="1" spc="-25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UNDAMAGED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4552" y="6576158"/>
            <a:ext cx="1662175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22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INPUT IMAGE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50220" y="7062064"/>
            <a:ext cx="2625072" cy="2590881"/>
          </a:xfrm>
          <a:custGeom>
            <a:avLst/>
            <a:gdLst/>
            <a:ahLst/>
            <a:cxnLst/>
            <a:rect l="l" t="t" r="r" b="b"/>
            <a:pathLst>
              <a:path w="2625072" h="2590881">
                <a:moveTo>
                  <a:pt x="0" y="0"/>
                </a:moveTo>
                <a:lnTo>
                  <a:pt x="2625072" y="0"/>
                </a:lnTo>
                <a:lnTo>
                  <a:pt x="262507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664354" y="8133399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606782" y="6576158"/>
            <a:ext cx="877912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22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MODEL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320622" y="7062064"/>
            <a:ext cx="3270402" cy="2590881"/>
          </a:xfrm>
          <a:custGeom>
            <a:avLst/>
            <a:gdLst/>
            <a:ahLst/>
            <a:cxnLst/>
            <a:rect l="l" t="t" r="r" b="b"/>
            <a:pathLst>
              <a:path w="3270402" h="2590881">
                <a:moveTo>
                  <a:pt x="0" y="0"/>
                </a:moveTo>
                <a:lnTo>
                  <a:pt x="3270402" y="0"/>
                </a:lnTo>
                <a:lnTo>
                  <a:pt x="327040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706820" y="7992157"/>
            <a:ext cx="2732484" cy="67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2122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Machine Learning / </a:t>
            </a:r>
          </a:p>
          <a:p>
            <a:pPr algn="ctr">
              <a:lnSpc>
                <a:spcPts val="2758"/>
              </a:lnSpc>
            </a:pPr>
            <a:r>
              <a:rPr lang="en-US" sz="2122" spc="-20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Deep Learning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68211" y="6576158"/>
            <a:ext cx="1030580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22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OUTPUT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236354" y="7062064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895567" y="7389492"/>
            <a:ext cx="1375868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75" b="1" spc="-25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DAMAGED</a:t>
            </a:r>
          </a:p>
        </p:txBody>
      </p:sp>
      <p:sp>
        <p:nvSpPr>
          <p:cNvPr id="28" name="Freeform 28"/>
          <p:cNvSpPr/>
          <p:nvPr/>
        </p:nvSpPr>
        <p:spPr>
          <a:xfrm>
            <a:off x="14580086" y="8133399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6408099" y="8142485"/>
            <a:ext cx="350804" cy="38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b="1" spc="-22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OR</a:t>
            </a:r>
          </a:p>
        </p:txBody>
      </p:sp>
      <p:sp>
        <p:nvSpPr>
          <p:cNvPr id="30" name="Freeform 30"/>
          <p:cNvSpPr/>
          <p:nvPr/>
        </p:nvSpPr>
        <p:spPr>
          <a:xfrm>
            <a:off x="15236354" y="8352038"/>
            <a:ext cx="2625072" cy="1300906"/>
          </a:xfrm>
          <a:custGeom>
            <a:avLst/>
            <a:gdLst/>
            <a:ahLst/>
            <a:cxnLst/>
            <a:rect l="l" t="t" r="r" b="b"/>
            <a:pathLst>
              <a:path w="2625072" h="1300906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5699765" y="8865455"/>
            <a:ext cx="1767472" cy="4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75" b="1" spc="-25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UNDAMAGED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6574" y="207708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5753" y="614612"/>
            <a:ext cx="8323941" cy="91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b="1" spc="-137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DATASET DESCRIPTION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497682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3462" y="1688945"/>
            <a:ext cx="9231957" cy="40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Two datasets are used for </a:t>
            </a:r>
            <a:r>
              <a:rPr lang="en-US" sz="2654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damage state classification</a:t>
            </a:r>
            <a:r>
              <a:rPr lang="en-US" sz="265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structures.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2350377"/>
            <a:ext cx="7853340" cy="6438940"/>
          </a:xfrm>
          <a:custGeom>
            <a:avLst/>
            <a:gdLst/>
            <a:ahLst/>
            <a:cxnLst/>
            <a:rect l="l" t="t" r="r" b="b"/>
            <a:pathLst>
              <a:path w="7853340" h="6438940">
                <a:moveTo>
                  <a:pt x="0" y="0"/>
                </a:moveTo>
                <a:lnTo>
                  <a:pt x="7853340" y="0"/>
                </a:lnTo>
                <a:lnTo>
                  <a:pt x="7853340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6574" y="2350377"/>
            <a:ext cx="7853340" cy="874559"/>
          </a:xfrm>
          <a:custGeom>
            <a:avLst/>
            <a:gdLst/>
            <a:ahLst/>
            <a:cxnLst/>
            <a:rect l="l" t="t" r="r" b="b"/>
            <a:pathLst>
              <a:path w="7853340" h="874559">
                <a:moveTo>
                  <a:pt x="0" y="0"/>
                </a:moveTo>
                <a:lnTo>
                  <a:pt x="7853340" y="0"/>
                </a:lnTo>
                <a:lnTo>
                  <a:pt x="785334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33071" y="2601845"/>
            <a:ext cx="3335847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REFERENCE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70166" y="3379629"/>
            <a:ext cx="1009299" cy="448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en-US" sz="3504" b="1" dirty="0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5913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66683" y="3293694"/>
            <a:ext cx="1842248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430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labeled images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50152" y="4072565"/>
            <a:ext cx="1009300" cy="46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en-US" sz="3504" b="1" dirty="0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2727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53244" y="3848060"/>
            <a:ext cx="218756" cy="1082267"/>
          </a:xfrm>
          <a:custGeom>
            <a:avLst/>
            <a:gdLst/>
            <a:ahLst/>
            <a:cxnLst/>
            <a:rect l="l" t="t" r="r" b="b"/>
            <a:pathLst>
              <a:path w="218756" h="1082267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237286" y="4072565"/>
            <a:ext cx="1009300" cy="46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en-US" sz="3504" b="1" dirty="0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3186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3364" y="4562012"/>
            <a:ext cx="2223492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Undamaged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0261" y="5126824"/>
            <a:ext cx="1009300" cy="46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en-US" sz="3504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1,479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9998" y="5152938"/>
            <a:ext cx="3395549" cy="3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38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additional unlabeled images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864086" y="5783021"/>
            <a:ext cx="3500096" cy="2361309"/>
          </a:xfrm>
          <a:custGeom>
            <a:avLst/>
            <a:gdLst/>
            <a:ahLst/>
            <a:cxnLst/>
            <a:rect l="l" t="t" r="r" b="b"/>
            <a:pathLst>
              <a:path w="3500096" h="2361309">
                <a:moveTo>
                  <a:pt x="0" y="0"/>
                </a:moveTo>
                <a:lnTo>
                  <a:pt x="3500096" y="0"/>
                </a:lnTo>
                <a:lnTo>
                  <a:pt x="350009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4086" y="7925691"/>
            <a:ext cx="3500096" cy="655919"/>
          </a:xfrm>
          <a:custGeom>
            <a:avLst/>
            <a:gdLst/>
            <a:ahLst/>
            <a:cxnLst/>
            <a:rect l="l" t="t" r="r" b="b"/>
            <a:pathLst>
              <a:path w="3500096" h="655919">
                <a:moveTo>
                  <a:pt x="0" y="0"/>
                </a:moveTo>
                <a:lnTo>
                  <a:pt x="3500096" y="0"/>
                </a:lnTo>
                <a:lnTo>
                  <a:pt x="350009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43169" y="8164720"/>
            <a:ext cx="1952531" cy="23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784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DAMAGED EXAMPLE</a:t>
            </a:r>
          </a:p>
        </p:txBody>
      </p:sp>
      <p:sp>
        <p:nvSpPr>
          <p:cNvPr id="21" name="Freeform 21"/>
          <p:cNvSpPr/>
          <p:nvPr/>
        </p:nvSpPr>
        <p:spPr>
          <a:xfrm>
            <a:off x="4572000" y="5783021"/>
            <a:ext cx="3489158" cy="2361309"/>
          </a:xfrm>
          <a:custGeom>
            <a:avLst/>
            <a:gdLst/>
            <a:ahLst/>
            <a:cxnLst/>
            <a:rect l="l" t="t" r="r" b="b"/>
            <a:pathLst>
              <a:path w="3489158" h="2361309">
                <a:moveTo>
                  <a:pt x="0" y="0"/>
                </a:moveTo>
                <a:lnTo>
                  <a:pt x="3489158" y="0"/>
                </a:lnTo>
                <a:lnTo>
                  <a:pt x="348915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572000" y="7925691"/>
            <a:ext cx="3489158" cy="655919"/>
          </a:xfrm>
          <a:custGeom>
            <a:avLst/>
            <a:gdLst/>
            <a:ahLst/>
            <a:cxnLst/>
            <a:rect l="l" t="t" r="r" b="b"/>
            <a:pathLst>
              <a:path w="3489158" h="655919">
                <a:moveTo>
                  <a:pt x="0" y="0"/>
                </a:moveTo>
                <a:lnTo>
                  <a:pt x="3489158" y="0"/>
                </a:lnTo>
                <a:lnTo>
                  <a:pt x="348915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146338" y="8164720"/>
            <a:ext cx="2232817" cy="23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784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UNDAMAGED EXAMPLE</a:t>
            </a:r>
          </a:p>
        </p:txBody>
      </p:sp>
      <p:sp>
        <p:nvSpPr>
          <p:cNvPr id="24" name="Freeform 24"/>
          <p:cNvSpPr/>
          <p:nvPr/>
        </p:nvSpPr>
        <p:spPr>
          <a:xfrm>
            <a:off x="8487732" y="2350377"/>
            <a:ext cx="9373694" cy="6438940"/>
          </a:xfrm>
          <a:custGeom>
            <a:avLst/>
            <a:gdLst/>
            <a:ahLst/>
            <a:cxnLst/>
            <a:rect l="l" t="t" r="r" b="b"/>
            <a:pathLst>
              <a:path w="9373694" h="6438940">
                <a:moveTo>
                  <a:pt x="0" y="0"/>
                </a:moveTo>
                <a:lnTo>
                  <a:pt x="9373694" y="0"/>
                </a:lnTo>
                <a:lnTo>
                  <a:pt x="937369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487732" y="2350377"/>
            <a:ext cx="9373694" cy="874559"/>
          </a:xfrm>
          <a:custGeom>
            <a:avLst/>
            <a:gdLst/>
            <a:ahLst/>
            <a:cxnLst/>
            <a:rect l="l" t="t" r="r" b="b"/>
            <a:pathLst>
              <a:path w="9373694" h="874559">
                <a:moveTo>
                  <a:pt x="0" y="0"/>
                </a:moveTo>
                <a:lnTo>
                  <a:pt x="9373694" y="0"/>
                </a:lnTo>
                <a:lnTo>
                  <a:pt x="9373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811070" y="2601845"/>
            <a:ext cx="2522376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>
                <a:solidFill>
                  <a:srgbClr val="FFFFFF">
                    <a:alpha val="9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DATASET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35070" y="3265066"/>
            <a:ext cx="7393781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86"/>
              </a:lnSpc>
            </a:pPr>
            <a:r>
              <a:rPr lang="en-US" sz="23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Source: PEER Hub ImageNet (Phi-Net), Task 2 Damage State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94027" y="4223703"/>
            <a:ext cx="1233589" cy="459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2"/>
              </a:lnSpc>
            </a:pPr>
            <a:r>
              <a:rPr lang="en-US" sz="3462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11,811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01476" y="4249288"/>
            <a:ext cx="882876" cy="3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38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883110" y="4711687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380140" y="5224855"/>
            <a:ext cx="1152708" cy="30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Undamaged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059732" y="3640352"/>
            <a:ext cx="229694" cy="1934962"/>
          </a:xfrm>
          <a:custGeom>
            <a:avLst/>
            <a:gdLst/>
            <a:ahLst/>
            <a:cxnLst/>
            <a:rect l="l" t="t" r="r" b="b"/>
            <a:pathLst>
              <a:path w="229694" h="1934962">
                <a:moveTo>
                  <a:pt x="0" y="0"/>
                </a:moveTo>
                <a:lnTo>
                  <a:pt x="229694" y="0"/>
                </a:lnTo>
                <a:lnTo>
                  <a:pt x="22969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318779" y="4223173"/>
            <a:ext cx="1009300" cy="460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4"/>
              </a:lnSpc>
            </a:pPr>
            <a:r>
              <a:rPr lang="en-US" sz="3504" b="1" dirty="0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1460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448460" y="4249288"/>
            <a:ext cx="882876" cy="36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8"/>
              </a:lnSpc>
            </a:pPr>
            <a:r>
              <a:rPr lang="en-US" sz="238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5236354" y="4711687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3829531" y="5224855"/>
            <a:ext cx="917367" cy="30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Damaged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125386" y="4851977"/>
            <a:ext cx="573146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70"/>
              </a:lnSpc>
            </a:pPr>
            <a:r>
              <a:rPr lang="en-US" sz="2970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715</a:t>
            </a:r>
          </a:p>
        </p:txBody>
      </p:sp>
      <p:sp>
        <p:nvSpPr>
          <p:cNvPr id="38" name="Freeform 38"/>
          <p:cNvSpPr/>
          <p:nvPr/>
        </p:nvSpPr>
        <p:spPr>
          <a:xfrm>
            <a:off x="8706488" y="5564382"/>
            <a:ext cx="8717426" cy="874559"/>
          </a:xfrm>
          <a:custGeom>
            <a:avLst/>
            <a:gdLst/>
            <a:ahLst/>
            <a:cxnLst/>
            <a:rect l="l" t="t" r="r" b="b"/>
            <a:pathLst>
              <a:path w="8717426" h="874559">
                <a:moveTo>
                  <a:pt x="0" y="0"/>
                </a:moveTo>
                <a:lnTo>
                  <a:pt x="8717426" y="0"/>
                </a:lnTo>
                <a:lnTo>
                  <a:pt x="871742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0104859" y="5821753"/>
            <a:ext cx="5831391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252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Label mapping: </a:t>
            </a:r>
            <a:r>
              <a:rPr lang="en-US" sz="2526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 = Damaged, 1 = Undamaged</a:t>
            </a:r>
          </a:p>
        </p:txBody>
      </p:sp>
      <p:sp>
        <p:nvSpPr>
          <p:cNvPr id="40" name="Freeform 40"/>
          <p:cNvSpPr/>
          <p:nvPr/>
        </p:nvSpPr>
        <p:spPr>
          <a:xfrm>
            <a:off x="8706488" y="6428009"/>
            <a:ext cx="4364182" cy="1716322"/>
          </a:xfrm>
          <a:custGeom>
            <a:avLst/>
            <a:gdLst/>
            <a:ahLst/>
            <a:cxnLst/>
            <a:rect l="l" t="t" r="r" b="b"/>
            <a:pathLst>
              <a:path w="4364182" h="1716322">
                <a:moveTo>
                  <a:pt x="0" y="0"/>
                </a:moveTo>
                <a:lnTo>
                  <a:pt x="4364182" y="0"/>
                </a:lnTo>
                <a:lnTo>
                  <a:pt x="436418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8706488" y="7925691"/>
            <a:ext cx="4364182" cy="655919"/>
          </a:xfrm>
          <a:custGeom>
            <a:avLst/>
            <a:gdLst/>
            <a:ahLst/>
            <a:cxnLst/>
            <a:rect l="l" t="t" r="r" b="b"/>
            <a:pathLst>
              <a:path w="4364182" h="655919">
                <a:moveTo>
                  <a:pt x="0" y="0"/>
                </a:moveTo>
                <a:lnTo>
                  <a:pt x="4364182" y="0"/>
                </a:lnTo>
                <a:lnTo>
                  <a:pt x="436418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909470" y="8164720"/>
            <a:ext cx="1952531" cy="23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784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DAMAGED EXAMPLE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278488" y="6428009"/>
            <a:ext cx="4145426" cy="1716322"/>
          </a:xfrm>
          <a:custGeom>
            <a:avLst/>
            <a:gdLst/>
            <a:ahLst/>
            <a:cxnLst/>
            <a:rect l="l" t="t" r="r" b="b"/>
            <a:pathLst>
              <a:path w="4145426" h="1716322">
                <a:moveTo>
                  <a:pt x="0" y="0"/>
                </a:moveTo>
                <a:lnTo>
                  <a:pt x="4145426" y="0"/>
                </a:lnTo>
                <a:lnTo>
                  <a:pt x="4145426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78488" y="7925691"/>
            <a:ext cx="4145426" cy="655919"/>
          </a:xfrm>
          <a:custGeom>
            <a:avLst/>
            <a:gdLst/>
            <a:ahLst/>
            <a:cxnLst/>
            <a:rect l="l" t="t" r="r" b="b"/>
            <a:pathLst>
              <a:path w="4145426" h="655919">
                <a:moveTo>
                  <a:pt x="0" y="0"/>
                </a:moveTo>
                <a:lnTo>
                  <a:pt x="4145426" y="0"/>
                </a:lnTo>
                <a:lnTo>
                  <a:pt x="414542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227831" y="8164720"/>
            <a:ext cx="2232817" cy="23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784">
                <a:solidFill>
                  <a:srgbClr val="FFFFFF">
                    <a:alpha val="9490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UNDAMAGED EXAMPLE</a:t>
            </a:r>
          </a:p>
        </p:txBody>
      </p:sp>
      <p:sp>
        <p:nvSpPr>
          <p:cNvPr id="46" name="Freeform 46"/>
          <p:cNvSpPr/>
          <p:nvPr/>
        </p:nvSpPr>
        <p:spPr>
          <a:xfrm>
            <a:off x="426574" y="8778386"/>
            <a:ext cx="17434852" cy="1300906"/>
          </a:xfrm>
          <a:custGeom>
            <a:avLst/>
            <a:gdLst/>
            <a:ahLst/>
            <a:cxnLst/>
            <a:rect l="l" t="t" r="r" b="b"/>
            <a:pathLst>
              <a:path w="17434852" h="1300906">
                <a:moveTo>
                  <a:pt x="0" y="0"/>
                </a:moveTo>
                <a:lnTo>
                  <a:pt x="17434852" y="0"/>
                </a:lnTo>
                <a:lnTo>
                  <a:pt x="1743485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946485" y="8992853"/>
            <a:ext cx="9866299" cy="73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The local dataset is related to, but not confirmed identical to, the reference dataset. Results are not directly comparable.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60333" y="4851977"/>
            <a:ext cx="859719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70"/>
              </a:lnSpc>
            </a:pPr>
            <a:r>
              <a:rPr lang="en-US" sz="2970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6,282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577932" y="4851977"/>
            <a:ext cx="859719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70"/>
              </a:lnSpc>
            </a:pPr>
            <a:r>
              <a:rPr lang="en-US" sz="2970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5,529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81504" y="4581087"/>
            <a:ext cx="1928812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Damaged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853914" y="5224855"/>
            <a:ext cx="1152708" cy="30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Undamaged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938742" y="3792195"/>
            <a:ext cx="1821656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>
                <a:solidFill>
                  <a:srgbClr val="299D9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28969" y="5224855"/>
            <a:ext cx="917367" cy="30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924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Damaged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035839" y="4851977"/>
            <a:ext cx="573146" cy="40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70"/>
              </a:lnSpc>
            </a:pPr>
            <a:r>
              <a:rPr lang="en-US" sz="2970" b="1">
                <a:solidFill>
                  <a:srgbClr val="299D9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745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466094" y="3792195"/>
            <a:ext cx="1714500" cy="34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sz="2321">
                <a:solidFill>
                  <a:srgbClr val="299D9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0289" y="624837"/>
            <a:ext cx="11191396" cy="75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5739" b="1" spc="-56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METHODOLOGY AND PREPROCESSING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497682"/>
            <a:ext cx="1542230" cy="218640"/>
          </a:xfrm>
          <a:custGeom>
            <a:avLst/>
            <a:gdLst/>
            <a:ahLst/>
            <a:cxnLst/>
            <a:rect l="l" t="t" r="r" b="b"/>
            <a:pathLst>
              <a:path w="1542230" h="21864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6310" y="1939168"/>
            <a:ext cx="6589287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26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end-to-end workflow from data to evaluation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569017"/>
            <a:ext cx="3062584" cy="3006296"/>
          </a:xfrm>
          <a:custGeom>
            <a:avLst/>
            <a:gdLst/>
            <a:ahLst/>
            <a:cxnLst/>
            <a:rect l="l" t="t" r="r" b="b"/>
            <a:pathLst>
              <a:path w="3062584" h="3006296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65765" y="3491272"/>
            <a:ext cx="1111733" cy="30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b="1" spc="-22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6883" y="4033774"/>
            <a:ext cx="2491383" cy="105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load datasets</a:t>
            </a:r>
          </a:p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labels, shapes,</a:t>
            </a:r>
          </a:p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class distribution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3259464" y="384806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915732" y="2569017"/>
            <a:ext cx="3051646" cy="3006296"/>
          </a:xfrm>
          <a:custGeom>
            <a:avLst/>
            <a:gdLst/>
            <a:ahLst/>
            <a:cxnLst/>
            <a:rect l="l" t="t" r="r" b="b"/>
            <a:pathLst>
              <a:path w="3051646" h="3006296">
                <a:moveTo>
                  <a:pt x="0" y="0"/>
                </a:moveTo>
                <a:lnTo>
                  <a:pt x="3051646" y="0"/>
                </a:lnTo>
                <a:lnTo>
                  <a:pt x="305164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66081" y="3481245"/>
            <a:ext cx="2016877" cy="31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1"/>
              </a:lnSpc>
            </a:pPr>
            <a:r>
              <a:rPr lang="en-US" sz="2311" b="1" spc="-22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86250" y="4033774"/>
            <a:ext cx="2491383" cy="105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images</a:t>
            </a:r>
          </a:p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normalize pixel values</a:t>
            </a:r>
          </a:p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prepare model inputs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956440" y="384806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93952" y="2569017"/>
            <a:ext cx="3281340" cy="3006296"/>
          </a:xfrm>
          <a:custGeom>
            <a:avLst/>
            <a:gdLst/>
            <a:ahLst/>
            <a:cxnLst/>
            <a:rect l="l" t="t" r="r" b="b"/>
            <a:pathLst>
              <a:path w="3281340" h="3006296">
                <a:moveTo>
                  <a:pt x="0" y="0"/>
                </a:moveTo>
                <a:lnTo>
                  <a:pt x="3281340" y="0"/>
                </a:lnTo>
                <a:lnTo>
                  <a:pt x="328134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864575" y="3491174"/>
            <a:ext cx="1140909" cy="29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b="1" spc="-21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75984" y="4005859"/>
            <a:ext cx="2491383" cy="74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188" spc="-21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 classical ML and neural network models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445598" y="384806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101866" y="2569017"/>
            <a:ext cx="3051646" cy="3006296"/>
          </a:xfrm>
          <a:custGeom>
            <a:avLst/>
            <a:gdLst/>
            <a:ahLst/>
            <a:cxnLst/>
            <a:rect l="l" t="t" r="r" b="b"/>
            <a:pathLst>
              <a:path w="3051646" h="3006296">
                <a:moveTo>
                  <a:pt x="0" y="0"/>
                </a:moveTo>
                <a:lnTo>
                  <a:pt x="3051646" y="0"/>
                </a:lnTo>
                <a:lnTo>
                  <a:pt x="305164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424612" y="3491174"/>
            <a:ext cx="1431786" cy="29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b="1" spc="-21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VALIDATION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38930" y="4033774"/>
            <a:ext cx="2491383" cy="105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monitor validation loss select best NN checkpoints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142574" y="384806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580086" y="2569017"/>
            <a:ext cx="3281340" cy="3006296"/>
          </a:xfrm>
          <a:custGeom>
            <a:avLst/>
            <a:gdLst/>
            <a:ahLst/>
            <a:cxnLst/>
            <a:rect l="l" t="t" r="r" b="b"/>
            <a:pathLst>
              <a:path w="3281340" h="3006296">
                <a:moveTo>
                  <a:pt x="0" y="0"/>
                </a:moveTo>
                <a:lnTo>
                  <a:pt x="3281340" y="0"/>
                </a:lnTo>
                <a:lnTo>
                  <a:pt x="328134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024378" y="2897749"/>
            <a:ext cx="428648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3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06779" y="3491272"/>
            <a:ext cx="2188550" cy="30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b="1" spc="-22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EVALUATION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28664" y="4043536"/>
            <a:ext cx="2491383" cy="141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evaluate on test set</a:t>
            </a:r>
          </a:p>
          <a:p>
            <a:pPr algn="l">
              <a:lnSpc>
                <a:spcPts val="2878"/>
              </a:lnSpc>
            </a:pPr>
            <a:r>
              <a:rPr lang="en-US" sz="2055" spc="-2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 accuracy, precision, recall, F1, and confusion matrices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426574" y="5990729"/>
            <a:ext cx="5239206" cy="4088563"/>
          </a:xfrm>
          <a:custGeom>
            <a:avLst/>
            <a:gdLst/>
            <a:ahLst/>
            <a:cxnLst/>
            <a:rect l="l" t="t" r="r" b="b"/>
            <a:pathLst>
              <a:path w="5239206" h="4088563">
                <a:moveTo>
                  <a:pt x="0" y="0"/>
                </a:moveTo>
                <a:lnTo>
                  <a:pt x="5239206" y="0"/>
                </a:lnTo>
                <a:lnTo>
                  <a:pt x="523920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12177" y="6361812"/>
            <a:ext cx="1828381" cy="35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654" b="1" spc="-25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SPLITS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0461" y="6890502"/>
            <a:ext cx="3616523" cy="87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Stratified 10% validation split</a:t>
            </a:r>
          </a:p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seed 42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0824" y="8027899"/>
            <a:ext cx="1963721" cy="41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71" b="1" spc="-2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10,630 </a:t>
            </a:r>
            <a:r>
              <a:rPr lang="en-US" sz="2271" spc="-22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fit images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6367" y="8474008"/>
            <a:ext cx="2675497" cy="41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71" b="1" spc="-22" dirty="0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1,181 </a:t>
            </a:r>
            <a:r>
              <a:rPr lang="en-US" sz="2271" spc="-22" dirty="0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validation images</a:t>
            </a:r>
          </a:p>
        </p:txBody>
      </p:sp>
      <p:sp>
        <p:nvSpPr>
          <p:cNvPr id="31" name="Freeform 31"/>
          <p:cNvSpPr/>
          <p:nvPr/>
        </p:nvSpPr>
        <p:spPr>
          <a:xfrm>
            <a:off x="5654842" y="5990729"/>
            <a:ext cx="6322048" cy="4088563"/>
          </a:xfrm>
          <a:custGeom>
            <a:avLst/>
            <a:gdLst/>
            <a:ahLst/>
            <a:cxnLst/>
            <a:rect l="l" t="t" r="r" b="b"/>
            <a:pathLst>
              <a:path w="6322048" h="4088563">
                <a:moveTo>
                  <a:pt x="0" y="0"/>
                </a:moveTo>
                <a:lnTo>
                  <a:pt x="6322048" y="0"/>
                </a:lnTo>
                <a:lnTo>
                  <a:pt x="632204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015307" y="6352218"/>
            <a:ext cx="3902104" cy="3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2707" b="1" spc="-26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PREPROCESSING &amp; MODELS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54328" y="6916193"/>
            <a:ext cx="5893594" cy="78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Classical models &amp; NumPy Tiny CNN: 32×32 input, scaled x/128 – 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54328" y="7744665"/>
            <a:ext cx="5357812" cy="953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454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MobileNetV1 &amp; ResNet50: 224×224 input InceptionV3: 299×299 input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54328" y="8828920"/>
            <a:ext cx="5357812" cy="78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254" spc="-22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Frozen ImageNet backbones with trainable linear classification head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965952" y="5990729"/>
            <a:ext cx="5895474" cy="4088563"/>
          </a:xfrm>
          <a:custGeom>
            <a:avLst/>
            <a:gdLst/>
            <a:ahLst/>
            <a:cxnLst/>
            <a:rect l="l" t="t" r="r" b="b"/>
            <a:pathLst>
              <a:path w="5895474" h="4088563">
                <a:moveTo>
                  <a:pt x="0" y="0"/>
                </a:moveTo>
                <a:lnTo>
                  <a:pt x="5895474" y="0"/>
                </a:lnTo>
                <a:lnTo>
                  <a:pt x="589547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518795" y="6352218"/>
            <a:ext cx="4527578" cy="36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2707" b="1" spc="-26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IMPLEMENTATION &amp; HARDWARE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64070" y="6890502"/>
            <a:ext cx="4554141" cy="87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Implemented with NumPy</a:t>
            </a:r>
          </a:p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TensorFlow/Keras as appropriate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64070" y="8035126"/>
            <a:ext cx="4554141" cy="87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CPU only</a:t>
            </a:r>
          </a:p>
          <a:p>
            <a:pPr algn="l">
              <a:lnSpc>
                <a:spcPts val="3581"/>
              </a:lnSpc>
            </a:pPr>
            <a:r>
              <a:rPr lang="en-US" sz="2387" spc="-23">
                <a:solidFill>
                  <a:srgbClr val="38A2A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(no RTX 3050 GPU)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0374" y="9021914"/>
            <a:ext cx="2008655" cy="41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71" b="1" spc="-2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1,460 </a:t>
            </a:r>
            <a:r>
              <a:rPr lang="en-US" sz="2271" spc="-22">
                <a:solidFill>
                  <a:srgbClr val="F4F4F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 images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81964" y="2897749"/>
            <a:ext cx="428648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3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71698" y="2897749"/>
            <a:ext cx="428648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3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34643" y="2897749"/>
            <a:ext cx="428648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3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2596" y="2897749"/>
            <a:ext cx="428648" cy="4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32">
                <a:solidFill>
                  <a:srgbClr val="38A2A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3520" y="525909"/>
            <a:ext cx="13905008" cy="100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3"/>
              </a:lnSpc>
            </a:pPr>
            <a:r>
              <a:rPr lang="en-US" sz="6652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REFERENCE APPROACHES REPRODUCED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100" y="2134031"/>
            <a:ext cx="10925900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772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Six reference methods implemented locally to establish </a:t>
            </a:r>
            <a:r>
              <a:rPr lang="en-US" sz="2772">
                <a:solidFill>
                  <a:srgbClr val="23949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baseline comparisons.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776725"/>
            <a:ext cx="5895474" cy="3017228"/>
          </a:xfrm>
          <a:custGeom>
            <a:avLst/>
            <a:gdLst/>
            <a:ahLst/>
            <a:cxnLst/>
            <a:rect l="l" t="t" r="r" b="b"/>
            <a:pathLst>
              <a:path w="5895474" h="3017228">
                <a:moveTo>
                  <a:pt x="0" y="0"/>
                </a:moveTo>
                <a:lnTo>
                  <a:pt x="5895474" y="0"/>
                </a:lnTo>
                <a:lnTo>
                  <a:pt x="589547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78316" y="3217883"/>
            <a:ext cx="572304" cy="66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0"/>
              </a:lnSpc>
            </a:pPr>
            <a:r>
              <a:rPr lang="en-US" sz="4449" b="1">
                <a:solidFill>
                  <a:srgbClr val="098D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3145" y="3350613"/>
            <a:ext cx="2530079" cy="69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K-Nearest Neighbors</a:t>
            </a:r>
          </a:p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(KNN)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8445" y="4609106"/>
            <a:ext cx="3348633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k=5, similarity on image</a:t>
            </a: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vectors.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72000" y="3214004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11110" y="2776725"/>
            <a:ext cx="5665780" cy="3017228"/>
          </a:xfrm>
          <a:custGeom>
            <a:avLst/>
            <a:gdLst/>
            <a:ahLst/>
            <a:cxnLst/>
            <a:rect l="l" t="t" r="r" b="b"/>
            <a:pathLst>
              <a:path w="5665780" h="3017228">
                <a:moveTo>
                  <a:pt x="0" y="0"/>
                </a:moveTo>
                <a:lnTo>
                  <a:pt x="5665780" y="0"/>
                </a:lnTo>
                <a:lnTo>
                  <a:pt x="5665780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63160" y="3110200"/>
            <a:ext cx="731699" cy="87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682" b="1">
                <a:solidFill>
                  <a:srgbClr val="098D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48124" y="3350613"/>
            <a:ext cx="1354776" cy="69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Logistic</a:t>
            </a:r>
          </a:p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61672" y="4609106"/>
            <a:ext cx="3348633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Mini-batch Adam optimizer,</a:t>
            </a: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L2 regularization.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008086" y="3214004"/>
            <a:ext cx="1323474" cy="1289974"/>
          </a:xfrm>
          <a:custGeom>
            <a:avLst/>
            <a:gdLst/>
            <a:ahLst/>
            <a:cxnLst/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65952" y="2776725"/>
            <a:ext cx="5895474" cy="3017228"/>
          </a:xfrm>
          <a:custGeom>
            <a:avLst/>
            <a:gdLst/>
            <a:ahLst/>
            <a:cxnLst/>
            <a:rect l="l" t="t" r="r" b="b"/>
            <a:pathLst>
              <a:path w="5895474" h="3017228">
                <a:moveTo>
                  <a:pt x="0" y="0"/>
                </a:moveTo>
                <a:lnTo>
                  <a:pt x="5895474" y="0"/>
                </a:lnTo>
                <a:lnTo>
                  <a:pt x="589547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342441" y="3110200"/>
            <a:ext cx="731699" cy="87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682" b="1">
                <a:solidFill>
                  <a:srgbClr val="098D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22035" y="3377388"/>
            <a:ext cx="1891798" cy="1036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RBF Support</a:t>
            </a:r>
          </a:p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Vector Machine</a:t>
            </a:r>
          </a:p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(SVM)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673866" y="3214004"/>
            <a:ext cx="1750048" cy="1289974"/>
          </a:xfrm>
          <a:custGeom>
            <a:avLst/>
            <a:gdLst/>
            <a:ahLst/>
            <a:cxnLst/>
            <a:rect l="l" t="t" r="r" b="b"/>
            <a:pathLst>
              <a:path w="1750048" h="1289974">
                <a:moveTo>
                  <a:pt x="0" y="0"/>
                </a:moveTo>
                <a:lnTo>
                  <a:pt x="1750048" y="0"/>
                </a:lnTo>
                <a:lnTo>
                  <a:pt x="175004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26574" y="5783021"/>
            <a:ext cx="5895474" cy="3006296"/>
          </a:xfrm>
          <a:custGeom>
            <a:avLst/>
            <a:gdLst/>
            <a:ahLst/>
            <a:cxnLst/>
            <a:rect l="l" t="t" r="r" b="b"/>
            <a:pathLst>
              <a:path w="5895474" h="3006296">
                <a:moveTo>
                  <a:pt x="0" y="0"/>
                </a:moveTo>
                <a:lnTo>
                  <a:pt x="5895474" y="0"/>
                </a:lnTo>
                <a:lnTo>
                  <a:pt x="589547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76919" y="6155877"/>
            <a:ext cx="711964" cy="84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5532" b="1">
                <a:solidFill>
                  <a:srgbClr val="098D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33494" y="6360591"/>
            <a:ext cx="1495142" cy="34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232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MobileNetV1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8445" y="7636335"/>
            <a:ext cx="3348633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Frozen pretrained features</a:t>
            </a: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 trainable linear head.</a:t>
            </a:r>
          </a:p>
        </p:txBody>
      </p:sp>
      <p:sp>
        <p:nvSpPr>
          <p:cNvPr id="24" name="Freeform 24"/>
          <p:cNvSpPr/>
          <p:nvPr/>
        </p:nvSpPr>
        <p:spPr>
          <a:xfrm>
            <a:off x="3915732" y="6209369"/>
            <a:ext cx="1968804" cy="1300906"/>
          </a:xfrm>
          <a:custGeom>
            <a:avLst/>
            <a:gdLst/>
            <a:ahLst/>
            <a:cxnLst/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311110" y="5783021"/>
            <a:ext cx="5665780" cy="3006296"/>
          </a:xfrm>
          <a:custGeom>
            <a:avLst/>
            <a:gdLst/>
            <a:ahLst/>
            <a:cxnLst/>
            <a:rect l="l" t="t" r="r" b="b"/>
            <a:pathLst>
              <a:path w="5665780" h="3006296">
                <a:moveTo>
                  <a:pt x="0" y="0"/>
                </a:moveTo>
                <a:lnTo>
                  <a:pt x="5665780" y="0"/>
                </a:lnTo>
                <a:lnTo>
                  <a:pt x="5665780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6663160" y="6137429"/>
            <a:ext cx="731699" cy="87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682" b="1">
                <a:solidFill>
                  <a:srgbClr val="098D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61672" y="7626809"/>
            <a:ext cx="3348633" cy="69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2254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Frozen backbone +</a:t>
            </a:r>
          </a:p>
          <a:p>
            <a:pPr algn="l">
              <a:lnSpc>
                <a:spcPts val="2706"/>
              </a:lnSpc>
            </a:pPr>
            <a:r>
              <a:rPr lang="en-US" sz="2254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trainable classification head.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008086" y="6209369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965952" y="5783021"/>
            <a:ext cx="5895474" cy="3006296"/>
          </a:xfrm>
          <a:custGeom>
            <a:avLst/>
            <a:gdLst/>
            <a:ahLst/>
            <a:cxnLst/>
            <a:rect l="l" t="t" r="r" b="b"/>
            <a:pathLst>
              <a:path w="5895474" h="3006296">
                <a:moveTo>
                  <a:pt x="0" y="0"/>
                </a:moveTo>
                <a:lnTo>
                  <a:pt x="5895474" y="0"/>
                </a:lnTo>
                <a:lnTo>
                  <a:pt x="589547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342441" y="6137429"/>
            <a:ext cx="731699" cy="87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sz="5682" b="1">
                <a:solidFill>
                  <a:srgbClr val="23949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318062" y="6387368"/>
            <a:ext cx="2289152" cy="108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390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InceptionV3</a:t>
            </a:r>
          </a:p>
          <a:p>
            <a:pPr algn="l">
              <a:lnSpc>
                <a:spcPts val="2869"/>
              </a:lnSpc>
            </a:pPr>
            <a:r>
              <a:rPr lang="en-US" sz="2390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layer-288 features</a:t>
            </a:r>
          </a:p>
          <a:p>
            <a:pPr algn="l">
              <a:lnSpc>
                <a:spcPts val="2869"/>
              </a:lnSpc>
            </a:pPr>
            <a:r>
              <a:rPr lang="en-US" sz="2390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+ RBF SVM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40953" y="7862287"/>
            <a:ext cx="3348633" cy="60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2055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Spatially averaged intermediate features, classified by RBF SVM.</a:t>
            </a:r>
          </a:p>
        </p:txBody>
      </p:sp>
      <p:sp>
        <p:nvSpPr>
          <p:cNvPr id="33" name="Freeform 33"/>
          <p:cNvSpPr/>
          <p:nvPr/>
        </p:nvSpPr>
        <p:spPr>
          <a:xfrm>
            <a:off x="15673866" y="6428009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26574" y="8997026"/>
            <a:ext cx="17434852" cy="863627"/>
          </a:xfrm>
          <a:custGeom>
            <a:avLst/>
            <a:gdLst/>
            <a:ahLst/>
            <a:cxnLst/>
            <a:rect l="l" t="t" r="r" b="b"/>
            <a:pathLst>
              <a:path w="17434852" h="863627">
                <a:moveTo>
                  <a:pt x="0" y="0"/>
                </a:moveTo>
                <a:lnTo>
                  <a:pt x="17434852" y="0"/>
                </a:lnTo>
                <a:lnTo>
                  <a:pt x="1743485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826547" y="9257810"/>
            <a:ext cx="11107066" cy="3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classical implementations are NumPy approximations and may differ from original code.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40953" y="4699471"/>
            <a:ext cx="3348633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NumPy-based SMO</a:t>
            </a:r>
          </a:p>
          <a:p>
            <a:pPr algn="l">
              <a:lnSpc>
                <a:spcPts val="2786"/>
              </a:lnSpc>
            </a:pPr>
            <a:r>
              <a:rPr lang="en-US" sz="2321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approximation.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47105" y="6351067"/>
            <a:ext cx="1456733" cy="3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InceptionV3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7282160" cy="65836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3000" b="1">
                <a:solidFill>
                  <a:srgbClr val="F5F8FA"/>
                </a:solidFill>
                <a:latin typeface="Aptos"/>
              </a:defRPr>
            </a:pPr>
            <a:r>
              <a:t>REFERENCE VS. LOCAL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691640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400" b="0">
                <a:solidFill>
                  <a:srgbClr val="B9CDDA"/>
                </a:solidFill>
                <a:latin typeface="Aptos"/>
              </a:defRPr>
            </a:pPr>
            <a:r>
              <a:t>Reference scores are reported as published; local results use the PEER Hub Phi-Net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36192"/>
            <a:ext cx="3200400" cy="566928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549907"/>
            <a:ext cx="3054096" cy="53949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REFERENCE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1536192"/>
            <a:ext cx="5577840" cy="566928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67912" y="1549907"/>
            <a:ext cx="5431536" cy="53949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REFERENCE EVALUATION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1536192"/>
            <a:ext cx="3474720" cy="566928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45752" y="1549907"/>
            <a:ext cx="3328415" cy="53949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LOCAL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47320" y="1536192"/>
            <a:ext cx="4800600" cy="566928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20472" y="1549907"/>
            <a:ext cx="4654296" cy="53949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LOCAL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32004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116836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KNN (k = 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103120"/>
            <a:ext cx="557784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67912" y="2116836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53.7% / 52.9%*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2103120"/>
            <a:ext cx="347472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45752" y="2116836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59.10%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0" y="2103120"/>
            <a:ext cx="48006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20472" y="2116836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55.27%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761487"/>
            <a:ext cx="32004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775203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2761487"/>
            <a:ext cx="557784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67912" y="2775203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54.7%*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761487"/>
            <a:ext cx="347472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2775203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59.02%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47320" y="2761487"/>
            <a:ext cx="48006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20472" y="2775203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59.79%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19856"/>
            <a:ext cx="32004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3433572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3419856"/>
            <a:ext cx="557784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67912" y="3433572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50.7%*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3419856"/>
            <a:ext cx="347472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45752" y="3433572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65.20%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47320" y="3419856"/>
            <a:ext cx="48006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920472" y="3433572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61.30%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078224"/>
            <a:ext cx="32004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4091939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MobileNetV1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4078224"/>
            <a:ext cx="557784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67912" y="4091939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67.0% paper / 67.7% poster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4078224"/>
            <a:ext cx="347472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45752" y="4091939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84.17%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847320" y="4078224"/>
            <a:ext cx="48006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920472" y="4091939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82.40%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736592"/>
            <a:ext cx="32004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4750307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InceptionV3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4736592"/>
            <a:ext cx="557784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67912" y="4750307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83.0%†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72600" y="4736592"/>
            <a:ext cx="347472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45752" y="4750307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82.64%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47320" y="4736592"/>
            <a:ext cx="4800600" cy="658368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920472" y="4750307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81.16%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5394959"/>
            <a:ext cx="32004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5408675"/>
            <a:ext cx="30540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InceptionV3 layer-288 + SVM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5394959"/>
            <a:ext cx="557784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67912" y="5408675"/>
            <a:ext cx="543153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75.0% validation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5394959"/>
            <a:ext cx="347472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2" y="5408675"/>
            <a:ext cx="3328415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71.30%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47320" y="5394959"/>
            <a:ext cx="4800600" cy="658368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920472" y="5408675"/>
            <a:ext cx="4654296" cy="630936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500" b="0">
                <a:solidFill>
                  <a:srgbClr val="20BEBE"/>
                </a:solidFill>
                <a:latin typeface="Aptos"/>
              </a:defRPr>
            </a:pPr>
            <a:r>
              <a:t>69.32%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6263640"/>
            <a:ext cx="8046720" cy="3063240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960" y="6419088"/>
            <a:ext cx="7498079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600" b="1">
                <a:solidFill>
                  <a:srgbClr val="20BEBE"/>
                </a:solidFill>
                <a:latin typeface="Aptos"/>
              </a:defRPr>
            </a:pPr>
            <a:r>
              <a:t>NOTES ON REFERENCE RESULTS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" y="6839712"/>
            <a:ext cx="7452360" cy="21031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defRPr sz="1400" b="0">
                <a:solidFill>
                  <a:srgbClr val="F5F8FA"/>
                </a:solidFill>
                <a:latin typeface="Aptos"/>
              </a:defRPr>
            </a:pPr>
            <a:r>
              <a:t>* The paper’s main protocol does not clearly describe a separate held-out test set; evaluation split attribution is uncertain.</a:t>
            </a:r>
            <a:br/>
            <a:br/>
            <a:r>
              <a:t>† The paper abstract calls 83.0% a test score, while the poster labels it validation.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5400" y="6263640"/>
            <a:ext cx="8778240" cy="3063240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89720" y="6419088"/>
            <a:ext cx="813816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600" b="1">
                <a:solidFill>
                  <a:srgbClr val="20BEB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6839712"/>
            <a:ext cx="8138160" cy="214884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• Local pretrained CNNs perform better than the classical baselines in this experiment.</a:t>
            </a:r>
            <a:br/>
            <a:br/>
            <a:r>
              <a:t>• Dataset, implementation, and evaluation-protocol differences mean these scores are not a direct apples-to-apples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9414" y="431023"/>
            <a:ext cx="8957819" cy="87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6604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ADDITIONAL EXPERIMENT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1896" y="1406782"/>
            <a:ext cx="1709624" cy="46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3440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ResNet50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924030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1858" y="2146908"/>
            <a:ext cx="7713391" cy="7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ResNet50 delivers the </a:t>
            </a:r>
            <a:r>
              <a:rPr lang="en-US" sz="2575">
                <a:solidFill>
                  <a:srgbClr val="2DA4A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highest local test accuracy</a:t>
            </a:r>
            <a:r>
              <a:rPr lang="en-US" sz="2575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among eight approaches in the current dataset and setup.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3214004"/>
            <a:ext cx="5457962" cy="2153601"/>
          </a:xfrm>
          <a:custGeom>
            <a:avLst/>
            <a:gdLst/>
            <a:ahLst/>
            <a:cxnLst/>
            <a:rect l="l" t="t" r="r" b="b"/>
            <a:pathLst>
              <a:path w="5457962" h="2153601">
                <a:moveTo>
                  <a:pt x="0" y="0"/>
                </a:moveTo>
                <a:lnTo>
                  <a:pt x="5457962" y="0"/>
                </a:lnTo>
                <a:lnTo>
                  <a:pt x="545796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4394" y="3391284"/>
            <a:ext cx="1606706" cy="24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810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RESNET50?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7342" y="3844613"/>
            <a:ext cx="4311876" cy="576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Residual connections enable very deep networks and stable training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6355" y="4576724"/>
            <a:ext cx="3410582" cy="567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Provides an additional pretrained CNN</a:t>
            </a:r>
          </a:p>
          <a:p>
            <a:pPr algn="l">
              <a:lnSpc>
                <a:spcPts val="2284"/>
              </a:lnSpc>
            </a:pPr>
            <a:r>
              <a:rPr lang="en-US" sz="175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comparison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426574" y="5356674"/>
            <a:ext cx="5457962" cy="2787657"/>
          </a:xfrm>
          <a:custGeom>
            <a:avLst/>
            <a:gdLst/>
            <a:ahLst/>
            <a:cxnLst/>
            <a:rect l="l" t="t" r="r" b="b"/>
            <a:pathLst>
              <a:path w="5457962" h="2787657">
                <a:moveTo>
                  <a:pt x="0" y="0"/>
                </a:moveTo>
                <a:lnTo>
                  <a:pt x="5457962" y="0"/>
                </a:lnTo>
                <a:lnTo>
                  <a:pt x="5457962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92382" y="5931694"/>
            <a:ext cx="3807903" cy="72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1810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Pretrained ImageNet ResNet50 backbone</a:t>
            </a:r>
          </a:p>
          <a:p>
            <a:pPr algn="l">
              <a:lnSpc>
                <a:spcPts val="3078"/>
              </a:lnSpc>
            </a:pPr>
            <a:r>
              <a:rPr lang="en-US" sz="1810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Input size: 224×224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3758" y="6796186"/>
            <a:ext cx="3670278" cy="30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Frozen backbone; trainable linear head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103" y="7202829"/>
            <a:ext cx="2935819" cy="30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Validation checkpoint selection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7751" y="7609471"/>
            <a:ext cx="2270972" cy="30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Separate test evaluation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426574" y="8133399"/>
            <a:ext cx="5457962" cy="1945894"/>
          </a:xfrm>
          <a:custGeom>
            <a:avLst/>
            <a:gdLst/>
            <a:ahLst/>
            <a:cxnLst/>
            <a:rect l="l" t="t" r="r" b="b"/>
            <a:pathLst>
              <a:path w="5457962" h="1945894">
                <a:moveTo>
                  <a:pt x="0" y="0"/>
                </a:moveTo>
                <a:lnTo>
                  <a:pt x="5457962" y="0"/>
                </a:lnTo>
                <a:lnTo>
                  <a:pt x="545796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14019" y="8251069"/>
            <a:ext cx="1644183" cy="230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757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INTERPRETATION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7227" y="8703394"/>
            <a:ext cx="3323405" cy="567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5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 is empirical for current dataset</a:t>
            </a:r>
          </a:p>
          <a:p>
            <a:pPr algn="l">
              <a:lnSpc>
                <a:spcPts val="2284"/>
              </a:lnSpc>
            </a:pPr>
            <a:r>
              <a:rPr lang="en-US" sz="175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setup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468" y="9416772"/>
            <a:ext cx="3099256" cy="30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universal proof of superiority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92354" y="2776725"/>
            <a:ext cx="5665780" cy="7302567"/>
          </a:xfrm>
          <a:custGeom>
            <a:avLst/>
            <a:gdLst/>
            <a:ahLst/>
            <a:cxnLst/>
            <a:rect l="l" t="t" r="r" b="b"/>
            <a:pathLst>
              <a:path w="5665780" h="7302567">
                <a:moveTo>
                  <a:pt x="0" y="0"/>
                </a:moveTo>
                <a:lnTo>
                  <a:pt x="5665780" y="0"/>
                </a:lnTo>
                <a:lnTo>
                  <a:pt x="5665780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121650" y="3305354"/>
            <a:ext cx="2222468" cy="32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RESIDUAL BLOCK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12708" y="4493047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875984" y="4698649"/>
            <a:ext cx="1741289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sz="2188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Weight Layer</a:t>
            </a:r>
          </a:p>
        </p:txBody>
      </p:sp>
      <p:sp>
        <p:nvSpPr>
          <p:cNvPr id="24" name="Freeform 24"/>
          <p:cNvSpPr/>
          <p:nvPr/>
        </p:nvSpPr>
        <p:spPr>
          <a:xfrm>
            <a:off x="8487732" y="4919394"/>
            <a:ext cx="448450" cy="874559"/>
          </a:xfrm>
          <a:custGeom>
            <a:avLst/>
            <a:gdLst/>
            <a:ahLst/>
            <a:cxnLst/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612708" y="5564382"/>
            <a:ext cx="2187560" cy="874559"/>
          </a:xfrm>
          <a:custGeom>
            <a:avLst/>
            <a:gdLst/>
            <a:ahLst/>
            <a:cxnLst/>
            <a:rect l="l" t="t" r="r" b="b"/>
            <a:pathLst>
              <a:path w="2187560" h="874559">
                <a:moveTo>
                  <a:pt x="0" y="0"/>
                </a:moveTo>
                <a:lnTo>
                  <a:pt x="2187560" y="0"/>
                </a:lnTo>
                <a:lnTo>
                  <a:pt x="218756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875984" y="5873395"/>
            <a:ext cx="1741289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sz="2188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Weight Layer</a:t>
            </a:r>
          </a:p>
        </p:txBody>
      </p:sp>
      <p:sp>
        <p:nvSpPr>
          <p:cNvPr id="27" name="Freeform 27"/>
          <p:cNvSpPr/>
          <p:nvPr/>
        </p:nvSpPr>
        <p:spPr>
          <a:xfrm>
            <a:off x="8487732" y="6209369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268976" y="6854356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487732" y="7280704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274844" y="8255029"/>
            <a:ext cx="908744" cy="31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F(x) + x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87615" y="8880602"/>
            <a:ext cx="4359586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2DA4A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Residual learning</a:t>
            </a:r>
            <a:r>
              <a:rPr lang="en-US" sz="204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allows information to flow through </a:t>
            </a:r>
            <a:r>
              <a:rPr lang="en-US" sz="2047">
                <a:solidFill>
                  <a:srgbClr val="2DA4A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shortcut connections.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75196" y="4066699"/>
            <a:ext cx="3281340" cy="3224936"/>
          </a:xfrm>
          <a:custGeom>
            <a:avLst/>
            <a:gdLst/>
            <a:ahLst/>
            <a:cxnLst/>
            <a:rect l="l" t="t" r="r" b="b"/>
            <a:pathLst>
              <a:path w="3281340" h="3224936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490008" y="5380561"/>
            <a:ext cx="1130499" cy="96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1986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Shortcut</a:t>
            </a:r>
          </a:p>
          <a:p>
            <a:pPr algn="l">
              <a:lnSpc>
                <a:spcPts val="2581"/>
              </a:lnSpc>
            </a:pPr>
            <a:r>
              <a:rPr lang="en-US" sz="1986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Connection</a:t>
            </a:r>
          </a:p>
          <a:p>
            <a:pPr algn="l">
              <a:lnSpc>
                <a:spcPts val="2581"/>
              </a:lnSpc>
            </a:pPr>
            <a:r>
              <a:rPr lang="en-US" sz="1986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(Identity)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965952" y="2776725"/>
            <a:ext cx="5895474" cy="7302567"/>
          </a:xfrm>
          <a:custGeom>
            <a:avLst/>
            <a:gdLst/>
            <a:ahLst/>
            <a:cxnLst/>
            <a:rect l="l" t="t" r="r" b="b"/>
            <a:pathLst>
              <a:path w="5895474" h="7302567">
                <a:moveTo>
                  <a:pt x="0" y="0"/>
                </a:moveTo>
                <a:lnTo>
                  <a:pt x="5895474" y="0"/>
                </a:lnTo>
                <a:lnTo>
                  <a:pt x="5895474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2736758" y="3250061"/>
            <a:ext cx="4162432" cy="3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496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RESULTS (LOCAL EVALUATION)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56092" y="3927799"/>
            <a:ext cx="2229120" cy="3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496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ACCURACY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38193" y="4342635"/>
            <a:ext cx="4018951" cy="141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6"/>
              </a:lnSpc>
            </a:pPr>
            <a:r>
              <a:rPr lang="en-US" sz="10696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83.77%</a:t>
            </a:r>
          </a:p>
        </p:txBody>
      </p:sp>
      <p:sp>
        <p:nvSpPr>
          <p:cNvPr id="38" name="Freeform 38"/>
          <p:cNvSpPr/>
          <p:nvPr/>
        </p:nvSpPr>
        <p:spPr>
          <a:xfrm>
            <a:off x="12622220" y="5783021"/>
            <a:ext cx="4801694" cy="218640"/>
          </a:xfrm>
          <a:custGeom>
            <a:avLst/>
            <a:gdLst/>
            <a:ahLst/>
            <a:cxnLst/>
            <a:rect l="l" t="t" r="r" b="b"/>
            <a:pathLst>
              <a:path w="4801694" h="218640">
                <a:moveTo>
                  <a:pt x="0" y="0"/>
                </a:moveTo>
                <a:lnTo>
                  <a:pt x="4801694" y="0"/>
                </a:lnTo>
                <a:lnTo>
                  <a:pt x="4801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2751043" y="6242274"/>
            <a:ext cx="2733973" cy="28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2192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VALIDATION ACCURACY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28957" y="6166635"/>
            <a:ext cx="1058429" cy="37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81"/>
              </a:lnSpc>
            </a:pPr>
            <a:r>
              <a:rPr lang="en-US" sz="2781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84.17%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239939" y="6769068"/>
            <a:ext cx="1047336" cy="37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81"/>
              </a:lnSpc>
            </a:pPr>
            <a:r>
              <a:rPr lang="en-US" sz="2781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81.51%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769738" y="7393437"/>
            <a:ext cx="864468" cy="2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3"/>
              </a:lnSpc>
            </a:pPr>
            <a:r>
              <a:rPr lang="en-US" sz="2113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RECALL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218733" y="7346791"/>
            <a:ext cx="1068757" cy="39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8"/>
              </a:lnSpc>
            </a:pPr>
            <a:r>
              <a:rPr lang="en-US" sz="2838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88.19%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766503" y="7979402"/>
            <a:ext cx="1188024" cy="30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F1-SCORE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192603" y="7942964"/>
            <a:ext cx="1095151" cy="38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96"/>
              </a:lnSpc>
            </a:pPr>
            <a:r>
              <a:rPr lang="en-US" sz="2896" b="1">
                <a:solidFill>
                  <a:srgbClr val="2DA4A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84.72%</a:t>
            </a:r>
          </a:p>
        </p:txBody>
      </p:sp>
      <p:sp>
        <p:nvSpPr>
          <p:cNvPr id="46" name="Freeform 46"/>
          <p:cNvSpPr/>
          <p:nvPr/>
        </p:nvSpPr>
        <p:spPr>
          <a:xfrm>
            <a:off x="12622220" y="8352038"/>
            <a:ext cx="4801694" cy="437279"/>
          </a:xfrm>
          <a:custGeom>
            <a:avLst/>
            <a:gdLst/>
            <a:ahLst/>
            <a:cxnLst/>
            <a:rect l="l" t="t" r="r" b="b"/>
            <a:pathLst>
              <a:path w="4801694" h="437279">
                <a:moveTo>
                  <a:pt x="0" y="0"/>
                </a:moveTo>
                <a:lnTo>
                  <a:pt x="4801694" y="0"/>
                </a:lnTo>
                <a:lnTo>
                  <a:pt x="480169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2732854" y="8811949"/>
            <a:ext cx="4552849" cy="77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ResNet50 achieved the highest local</a:t>
            </a:r>
          </a:p>
          <a:p>
            <a:pPr algn="l">
              <a:lnSpc>
                <a:spcPts val="3174"/>
              </a:lnSpc>
            </a:pPr>
            <a:r>
              <a:rPr lang="en-US" sz="2267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 accuracy among eight approaches.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765880" y="6819619"/>
            <a:ext cx="1250259" cy="29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PRECISION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0461" y="5557117"/>
            <a:ext cx="4500562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SETUP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75984" y="5286022"/>
            <a:ext cx="1741289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88"/>
              </a:lnSpc>
            </a:pPr>
            <a:r>
              <a:rPr lang="en-US" sz="2188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ReLU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75984" y="7650574"/>
            <a:ext cx="1741289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88"/>
              </a:lnSpc>
            </a:pPr>
            <a:r>
              <a:rPr lang="en-US" sz="2188">
                <a:solidFill>
                  <a:srgbClr val="F2F2F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ReLU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83608" y="3957321"/>
            <a:ext cx="157740" cy="37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1">
                <a:solidFill>
                  <a:srgbClr val="F2F2F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7282160" cy="65836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3000" b="1">
                <a:solidFill>
                  <a:srgbClr val="F5F8FA"/>
                </a:solidFill>
                <a:latin typeface="Aptos"/>
              </a:defRPr>
            </a:pPr>
            <a:r>
              <a:t>OVERALL LOCAL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691640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400" b="0">
                <a:solidFill>
                  <a:srgbClr val="B9CDDA"/>
                </a:solidFill>
                <a:latin typeface="Aptos"/>
              </a:defRPr>
            </a:pPr>
            <a:r>
              <a:t>Test accuracy across all eight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72768"/>
            <a:ext cx="5212080" cy="530352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586484"/>
            <a:ext cx="5065776" cy="502919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400" b="1">
                <a:solidFill>
                  <a:srgbClr val="F5F8FA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572768"/>
            <a:ext cx="2240280" cy="530352"/>
          </a:xfrm>
          <a:prstGeom prst="rect">
            <a:avLst/>
          </a:prstGeom>
          <a:solidFill>
            <a:srgbClr val="0F4B60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79592" y="1586484"/>
            <a:ext cx="2093976" cy="502919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52120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116836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2103120"/>
            <a:ext cx="22402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79592" y="2116836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83.77%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06624"/>
            <a:ext cx="52120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720340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MobileNetV1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706624"/>
            <a:ext cx="22402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9592" y="2720340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82.40%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10128"/>
            <a:ext cx="52120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323844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InceptionV3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310128"/>
            <a:ext cx="22402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9592" y="3323844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81.16%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913631"/>
            <a:ext cx="52120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927347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InceptionV3 layer-288 + SVM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913631"/>
            <a:ext cx="22402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79592" y="3927347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69.32%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517136"/>
            <a:ext cx="52120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4530851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517136"/>
            <a:ext cx="22402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79592" y="4530851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61.30%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120640"/>
            <a:ext cx="52120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5134355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5120640"/>
            <a:ext cx="22402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79592" y="5134355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59.79%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724144"/>
            <a:ext cx="52120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5737859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NumPy Tiny CNN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5724144"/>
            <a:ext cx="2240280" cy="603504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9592" y="5737859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57.88%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327648"/>
            <a:ext cx="52120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6341364"/>
            <a:ext cx="50657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500" b="0">
                <a:solidFill>
                  <a:srgbClr val="F5F8FA"/>
                </a:solidFill>
                <a:latin typeface="Aptos"/>
              </a:defRPr>
            </a:pPr>
            <a:r>
              <a:t>KNN (k = 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6327648"/>
            <a:ext cx="2240280" cy="603504"/>
          </a:xfrm>
          <a:prstGeom prst="rect">
            <a:avLst/>
          </a:prstGeom>
          <a:solidFill>
            <a:srgbClr val="10364D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79592" y="6341364"/>
            <a:ext cx="2093976" cy="5760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600" b="1">
                <a:solidFill>
                  <a:srgbClr val="20BEBE"/>
                </a:solidFill>
                <a:latin typeface="Aptos"/>
              </a:defRPr>
            </a:pPr>
            <a:r>
              <a:t>55.27%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7132320"/>
            <a:ext cx="7452360" cy="1170432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7296912"/>
            <a:ext cx="708660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300" b="0">
                <a:solidFill>
                  <a:srgbClr val="B9CDDA"/>
                </a:solidFill>
                <a:latin typeface="Aptos"/>
              </a:defRPr>
            </a:pPr>
            <a:r>
              <a:t>Each confusion matrix represents 1,460 test images.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7680960"/>
            <a:ext cx="708660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600" b="1">
                <a:solidFill>
                  <a:srgbClr val="20BEBE"/>
                </a:solidFill>
                <a:latin typeface="Aptos"/>
              </a:defRPr>
            </a:pPr>
            <a:r>
              <a:t>Best local test accuracy: ResNet50 (83.77%).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1572768"/>
            <a:ext cx="4434840" cy="4343400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0" y="1682495"/>
            <a:ext cx="416052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800" b="1">
                <a:solidFill>
                  <a:srgbClr val="20BEBE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37192" y="2185416"/>
            <a:ext cx="2971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1">
                <a:solidFill>
                  <a:srgbClr val="B9CDDA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487168"/>
            <a:ext cx="1207008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Damaged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0232" y="2487168"/>
            <a:ext cx="1417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Undamaged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9912" y="3520439"/>
            <a:ext cx="9144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000" b="1">
                <a:solidFill>
                  <a:srgbClr val="B9CDDA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3081528"/>
            <a:ext cx="1005840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Damaged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361688"/>
            <a:ext cx="1143000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1">
                <a:solidFill>
                  <a:srgbClr val="F5F8FA"/>
                </a:solidFill>
                <a:latin typeface="Aptos"/>
              </a:defRPr>
            </a:pPr>
            <a:r>
              <a:t>Undamaged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2834639"/>
            <a:ext cx="1417320" cy="1124712"/>
          </a:xfrm>
          <a:prstGeom prst="rect">
            <a:avLst/>
          </a:prstGeom>
          <a:solidFill>
            <a:srgbClr val="198F97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74352" y="2848356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657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18520" y="2834639"/>
            <a:ext cx="1417320" cy="1124712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091672" y="2848356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959352"/>
            <a:ext cx="1417320" cy="1124712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3973068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18520" y="3959352"/>
            <a:ext cx="1417320" cy="1124712"/>
          </a:xfrm>
          <a:prstGeom prst="rect">
            <a:avLst/>
          </a:prstGeom>
          <a:solidFill>
            <a:srgbClr val="198F97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091672" y="3973068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566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31352" y="5321807"/>
            <a:ext cx="4105655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0">
                <a:solidFill>
                  <a:srgbClr val="B9CDDA"/>
                </a:solidFill>
                <a:latin typeface="Aptos"/>
              </a:defRPr>
            </a:pPr>
            <a:r>
              <a:t>Rows = actual class; columns = predicted class.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121640" y="1572768"/>
            <a:ext cx="4434840" cy="4343400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258800" y="1682495"/>
            <a:ext cx="4160520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800" b="1">
                <a:solidFill>
                  <a:srgbClr val="20BEBE"/>
                </a:solidFill>
                <a:latin typeface="Aptos"/>
              </a:defRPr>
            </a:pPr>
            <a:r>
              <a:t>KNN (k = 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292072" y="2185416"/>
            <a:ext cx="2971800" cy="25603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1">
                <a:solidFill>
                  <a:srgbClr val="B9CDDA"/>
                </a:solidFill>
                <a:latin typeface="Aptos"/>
              </a:defRPr>
            </a:pPr>
            <a:r>
              <a:t>PREDICTED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47519" y="2487168"/>
            <a:ext cx="1207008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Damaged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55112" y="2487168"/>
            <a:ext cx="141732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Undamaged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94792" y="3520439"/>
            <a:ext cx="914400" cy="27432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000" b="1">
                <a:solidFill>
                  <a:srgbClr val="B9CDDA"/>
                </a:solidFill>
                <a:latin typeface="Aptos"/>
              </a:defRPr>
            </a:pPr>
            <a:r>
              <a:t>ACTUAL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31367" y="3081528"/>
            <a:ext cx="1005840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200" b="1">
                <a:solidFill>
                  <a:srgbClr val="F5F8FA"/>
                </a:solidFill>
                <a:latin typeface="Aptos"/>
              </a:defRPr>
            </a:pPr>
            <a:r>
              <a:t>Damaged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149072" y="4361688"/>
            <a:ext cx="1143000" cy="29260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1">
                <a:solidFill>
                  <a:srgbClr val="F5F8FA"/>
                </a:solidFill>
                <a:latin typeface="Aptos"/>
              </a:defRPr>
            </a:pPr>
            <a:r>
              <a:t>Undamaged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356080" y="2834639"/>
            <a:ext cx="1417320" cy="1124712"/>
          </a:xfrm>
          <a:prstGeom prst="rect">
            <a:avLst/>
          </a:prstGeom>
          <a:solidFill>
            <a:srgbClr val="198F97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429232" y="2848356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479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73400" y="2834639"/>
            <a:ext cx="1417320" cy="1124712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5846551" y="2848356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266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356080" y="3959352"/>
            <a:ext cx="1417320" cy="1124712"/>
          </a:xfrm>
          <a:prstGeom prst="rect">
            <a:avLst/>
          </a:prstGeom>
          <a:solidFill>
            <a:srgbClr val="0D2B43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4429232" y="3973068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387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773400" y="3959352"/>
            <a:ext cx="1417320" cy="1124712"/>
          </a:xfrm>
          <a:prstGeom prst="rect">
            <a:avLst/>
          </a:prstGeom>
          <a:solidFill>
            <a:srgbClr val="198F97"/>
          </a:solidFill>
          <a:ln w="13970">
            <a:solidFill>
              <a:srgbClr val="2D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5846551" y="3973068"/>
            <a:ext cx="1271016" cy="10972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2200" b="1">
                <a:solidFill>
                  <a:srgbClr val="F5F8FA"/>
                </a:solidFill>
                <a:latin typeface="Aptos"/>
              </a:defRPr>
            </a:pPr>
            <a:r>
              <a:t>328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86232" y="5321807"/>
            <a:ext cx="4105655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defRPr sz="1100" b="0">
                <a:solidFill>
                  <a:srgbClr val="B9CDDA"/>
                </a:solidFill>
                <a:latin typeface="Aptos"/>
              </a:defRPr>
            </a:pPr>
            <a:r>
              <a:t>Rows = actual class; columns = predicted class.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66760" y="6144768"/>
            <a:ext cx="9189720" cy="2157984"/>
          </a:xfrm>
          <a:prstGeom prst="roundRect">
            <a:avLst>
              <a:gd name="adj" fmla="val 5000"/>
            </a:avLst>
          </a:prstGeom>
          <a:solidFill>
            <a:srgbClr val="092338"/>
          </a:solidFill>
          <a:ln w="13970">
            <a:solidFill>
              <a:srgbClr val="2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641080" y="6291072"/>
            <a:ext cx="8641080" cy="347472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defRPr sz="1600" b="1">
                <a:solidFill>
                  <a:srgbClr val="20BEBE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41080" y="6720840"/>
            <a:ext cx="8549640" cy="13258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spAutoFit/>
          </a:bodyPr>
          <a:lstStyle/>
          <a:p>
            <a:pPr algn="l">
              <a:defRPr sz="1400" b="0">
                <a:solidFill>
                  <a:srgbClr val="F5F8FA"/>
                </a:solidFill>
                <a:latin typeface="Aptos"/>
              </a:defRPr>
            </a:pPr>
            <a:r>
              <a:t>• ResNet50, MobileNetV1, and InceptionV3 achieved the highest local test accuracies.</a:t>
            </a:r>
            <a:br/>
            <a:r>
              <a:t>• Classical methods and the small NumPy CNN performed less strongly on this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5042" y="399411"/>
            <a:ext cx="9037205" cy="189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7077" b="1" spc="-141">
                <a:solidFill>
                  <a:srgbClr val="F4F4F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LIMITATIONS AND FUTURE IMPROVEMENTS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350377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2569017"/>
            <a:ext cx="5895474" cy="7510275"/>
          </a:xfrm>
          <a:custGeom>
            <a:avLst/>
            <a:gdLst/>
            <a:ahLst/>
            <a:cxnLst/>
            <a:rect l="l" t="t" r="r" b="b"/>
            <a:pathLst>
              <a:path w="5895474" h="7510275">
                <a:moveTo>
                  <a:pt x="0" y="0"/>
                </a:moveTo>
                <a:lnTo>
                  <a:pt x="5895474" y="0"/>
                </a:lnTo>
                <a:lnTo>
                  <a:pt x="589547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2569017"/>
            <a:ext cx="5895474" cy="863627"/>
          </a:xfrm>
          <a:custGeom>
            <a:avLst/>
            <a:gdLst/>
            <a:ahLst/>
            <a:cxnLst/>
            <a:rect l="l" t="t" r="r" b="b"/>
            <a:pathLst>
              <a:path w="5895474" h="863627">
                <a:moveTo>
                  <a:pt x="0" y="0"/>
                </a:moveTo>
                <a:lnTo>
                  <a:pt x="5895474" y="0"/>
                </a:lnTo>
                <a:lnTo>
                  <a:pt x="589547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4039" y="3551134"/>
            <a:ext cx="5036344" cy="32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dataset differs from reference 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4039" y="4528973"/>
            <a:ext cx="4527352" cy="6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NumPy classical approximations may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differ from original methods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4039" y="5295960"/>
            <a:ext cx="4527352" cy="9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Some classical experiments use 2,500-row subsets for RBF SVM and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intermediatefeature SVM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4039" y="6400711"/>
            <a:ext cx="4286250" cy="115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122" spc="-42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Transfer-learning backbones frozen;</a:t>
            </a:r>
          </a:p>
          <a:p>
            <a:pPr algn="l">
              <a:lnSpc>
                <a:spcPts val="2333"/>
              </a:lnSpc>
            </a:pPr>
            <a:r>
              <a:rPr lang="en-US" sz="2122" spc="-42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end-to-end fine-tuning performed</a:t>
            </a:r>
          </a:p>
          <a:p>
            <a:pPr algn="l">
              <a:lnSpc>
                <a:spcPts val="2333"/>
              </a:lnSpc>
            </a:pPr>
            <a:r>
              <a:rPr lang="en-US" sz="2122" spc="-42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augmentation used in transfer-learning experiments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4039" y="7661628"/>
            <a:ext cx="4527352" cy="6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Experiments run on CPU; no RTX 3050</a:t>
            </a:r>
          </a:p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GPU acceleration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4039" y="8384548"/>
            <a:ext cx="4527352" cy="62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Preprocessing assumptions and differences may affect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4039" y="9156287"/>
            <a:ext cx="5036344" cy="58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2122" spc="-42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Accuracy alone insufficient to capture operational risk in structural damage assessment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92354" y="2569017"/>
            <a:ext cx="6103292" cy="7717983"/>
          </a:xfrm>
          <a:custGeom>
            <a:avLst/>
            <a:gdLst/>
            <a:ahLst/>
            <a:cxnLst/>
            <a:rect l="l" t="t" r="r" b="b"/>
            <a:pathLst>
              <a:path w="6103292" h="7717983">
                <a:moveTo>
                  <a:pt x="0" y="0"/>
                </a:moveTo>
                <a:lnTo>
                  <a:pt x="6103292" y="0"/>
                </a:lnTo>
                <a:lnTo>
                  <a:pt x="6103292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84708" y="2569017"/>
            <a:ext cx="5676718" cy="7510275"/>
          </a:xfrm>
          <a:custGeom>
            <a:avLst/>
            <a:gdLst/>
            <a:ahLst/>
            <a:cxnLst/>
            <a:rect l="l" t="t" r="r" b="b"/>
            <a:pathLst>
              <a:path w="5676718" h="7510275">
                <a:moveTo>
                  <a:pt x="0" y="0"/>
                </a:moveTo>
                <a:lnTo>
                  <a:pt x="5676718" y="0"/>
                </a:lnTo>
                <a:lnTo>
                  <a:pt x="567671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184708" y="2569017"/>
            <a:ext cx="5676718" cy="863627"/>
          </a:xfrm>
          <a:custGeom>
            <a:avLst/>
            <a:gdLst/>
            <a:ahLst/>
            <a:cxnLst/>
            <a:rect l="l" t="t" r="r" b="b"/>
            <a:pathLst>
              <a:path w="5676718" h="863627">
                <a:moveTo>
                  <a:pt x="0" y="0"/>
                </a:moveTo>
                <a:lnTo>
                  <a:pt x="5676718" y="0"/>
                </a:lnTo>
                <a:lnTo>
                  <a:pt x="5676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735122" y="3633942"/>
            <a:ext cx="4326118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Verify preprocessing and normalization against original dataset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40381" y="4748445"/>
            <a:ext cx="3800161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 data augmentation and controlled fine-tuning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31509" y="5847963"/>
            <a:ext cx="4687364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 robustness across different buildings, image conditions, and damage types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46828" y="6887084"/>
            <a:ext cx="3155488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Validate externally to assess generalization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37859" y="7956404"/>
            <a:ext cx="4052354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Investigate class-specific error costs and confidence calibration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39197" y="8995602"/>
            <a:ext cx="3918562" cy="71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Utilize GPU acceleration for training and inference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4039" y="4048141"/>
            <a:ext cx="5036344" cy="32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spc="-45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Reference evaluation split attribution unclear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78383" y="2858335"/>
            <a:ext cx="4527352" cy="32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2254" b="1" spc="-45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FUTURE IMPROVEMENTS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5875" y="2858335"/>
            <a:ext cx="4179094" cy="32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2254" b="1" spc="-45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CURRENT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7658" y="609090"/>
            <a:ext cx="6775639" cy="1802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1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 AND REFERENCES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350377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2776725"/>
            <a:ext cx="8509608" cy="6012593"/>
          </a:xfrm>
          <a:custGeom>
            <a:avLst/>
            <a:gdLst/>
            <a:ahLst/>
            <a:cxnLst/>
            <a:rect l="l" t="t" r="r" b="b"/>
            <a:pathLst>
              <a:path w="8509608" h="6012593">
                <a:moveTo>
                  <a:pt x="0" y="0"/>
                </a:moveTo>
                <a:lnTo>
                  <a:pt x="8509608" y="0"/>
                </a:lnTo>
                <a:lnTo>
                  <a:pt x="850960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79573" y="4317095"/>
            <a:ext cx="1877851" cy="49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755" b="1" spc="-36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ResNet50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1251" y="5438127"/>
            <a:ext cx="2563152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 spc="-368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83.77%</a:t>
            </a:r>
          </a:p>
        </p:txBody>
      </p:sp>
      <p:sp>
        <p:nvSpPr>
          <p:cNvPr id="8" name="Freeform 8"/>
          <p:cNvSpPr/>
          <p:nvPr/>
        </p:nvSpPr>
        <p:spPr>
          <a:xfrm>
            <a:off x="3478220" y="2995365"/>
            <a:ext cx="229694" cy="5367606"/>
          </a:xfrm>
          <a:custGeom>
            <a:avLst/>
            <a:gdLst/>
            <a:ahLst/>
            <a:cxnLst/>
            <a:rect l="l" t="t" r="r" b="b"/>
            <a:pathLst>
              <a:path w="229694" h="5367606">
                <a:moveTo>
                  <a:pt x="0" y="0"/>
                </a:moveTo>
                <a:lnTo>
                  <a:pt x="229694" y="0"/>
                </a:lnTo>
                <a:lnTo>
                  <a:pt x="22969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78368" y="3052056"/>
            <a:ext cx="3999169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Six reference approaches implemented and evaluated locally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7469" y="3985828"/>
            <a:ext cx="3089013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Classical ML methods provide baseline 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80032" y="4904540"/>
            <a:ext cx="3832762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Pretrained CNNs achieved higher test accuracy locally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82879" y="5853373"/>
            <a:ext cx="3548053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Transfer learning proved useful for this classification task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0365" y="6772084"/>
            <a:ext cx="4799468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Direct comparison with reference paper limited by dataset and protocol differences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74408" y="7705856"/>
            <a:ext cx="4395155" cy="65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Further validation needed before real-world structural safety applications</a:t>
            </a:r>
          </a:p>
        </p:txBody>
      </p:sp>
      <p:sp>
        <p:nvSpPr>
          <p:cNvPr id="15" name="Freeform 15"/>
          <p:cNvSpPr/>
          <p:nvPr/>
        </p:nvSpPr>
        <p:spPr>
          <a:xfrm>
            <a:off x="9144000" y="0"/>
            <a:ext cx="9144000" cy="5367606"/>
          </a:xfrm>
          <a:custGeom>
            <a:avLst/>
            <a:gdLst/>
            <a:ahLst/>
            <a:cxnLst/>
            <a:rect l="l" t="t" r="r" b="b"/>
            <a:pathLst>
              <a:path w="9144000" h="5367606">
                <a:moveTo>
                  <a:pt x="0" y="0"/>
                </a:moveTo>
                <a:lnTo>
                  <a:pt x="9144000" y="0"/>
                </a:lnTo>
                <a:lnTo>
                  <a:pt x="914400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5564382"/>
            <a:ext cx="8717426" cy="874559"/>
          </a:xfrm>
          <a:custGeom>
            <a:avLst/>
            <a:gdLst/>
            <a:ahLst/>
            <a:cxnLst/>
            <a:rect l="l" t="t" r="r" b="b"/>
            <a:pathLst>
              <a:path w="8717426" h="874559">
                <a:moveTo>
                  <a:pt x="0" y="0"/>
                </a:moveTo>
                <a:lnTo>
                  <a:pt x="8717426" y="0"/>
                </a:lnTo>
                <a:lnTo>
                  <a:pt x="871742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519954" y="5909583"/>
            <a:ext cx="1695246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24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REFERENCES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9144000" y="6209369"/>
            <a:ext cx="8717426" cy="2579949"/>
          </a:xfrm>
          <a:custGeom>
            <a:avLst/>
            <a:gdLst/>
            <a:ahLst/>
            <a:cxnLst/>
            <a:rect l="l" t="t" r="r" b="b"/>
            <a:pathLst>
              <a:path w="8717426" h="2579949">
                <a:moveTo>
                  <a:pt x="0" y="0"/>
                </a:moveTo>
                <a:lnTo>
                  <a:pt x="8717426" y="0"/>
                </a:lnTo>
                <a:lnTo>
                  <a:pt x="871742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626232" y="6692747"/>
            <a:ext cx="162641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9648" y="6645912"/>
            <a:ext cx="4982837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https://cs229.stanford.edu/proj2018/report/39.pdf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26232" y="7159633"/>
            <a:ext cx="162641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49266" y="7127859"/>
            <a:ext cx="5021015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https://cs229.stanford.edu/proj2018/poster/39.pdf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44361" y="7609805"/>
            <a:ext cx="5511526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https://github.com/jatron/structural-damage-recognition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48888" y="8091752"/>
            <a:ext cx="5058824" cy="30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PEER Hub ImageNet (Phi-Net), Task 2 Damage State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0995" y="9231169"/>
            <a:ext cx="7353309" cy="66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8352" y="6848424"/>
            <a:ext cx="2143125" cy="3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23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ACCURACY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2664" y="3836255"/>
            <a:ext cx="2143125" cy="30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b="1" spc="-23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BEST MODEL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26232" y="7656640"/>
            <a:ext cx="162641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26232" y="8138587"/>
            <a:ext cx="162641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27909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1174</Words>
  <Application>Microsoft Office PowerPoint</Application>
  <PresentationFormat>Custom</PresentationFormat>
  <Paragraphs>298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Condensed Bold</vt:lpstr>
      <vt:lpstr>Roboto Condensed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Damage Classification</dc:title>
  <dc:creator>Shivakumara G P</dc:creator>
  <cp:lastModifiedBy>Shivakumara G P</cp:lastModifiedBy>
  <cp:revision>3</cp:revision>
  <dcterms:created xsi:type="dcterms:W3CDTF">2006-08-16T00:00:00Z</dcterms:created>
  <dcterms:modified xsi:type="dcterms:W3CDTF">2026-10-13T00:13:28Z</dcterms:modified>
  <dc:identifier>DAHXyol2xeE</dc:identifier>
</cp:coreProperties>
</file>